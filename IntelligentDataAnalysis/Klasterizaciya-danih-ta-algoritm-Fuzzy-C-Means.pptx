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Tomorrow" pitchFamily="2" charset="0"/>
      <p:regular r:id="rId13"/>
    </p:embeddedFont>
    <p:embeddedFont>
      <p:font typeface="Tomorrow Semi Bold" pitchFamily="2" charset="0"/>
      <p:regular r:id="rId14"/>
    </p:embeddedFont>
  </p:embeddedFontLst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4227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Кластеризація даних та алгоритм Fuzzy C-Means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uk-UA" sz="1750" dirty="0">
                <a:solidFill>
                  <a:srgbClr val="61615C"/>
                </a:solidFill>
              </a:rPr>
              <a:t>Підготував Стегней Віктор ПМі-44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5089"/>
            <a:ext cx="5643443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Що таке кластеризація?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747599"/>
            <a:ext cx="7066121" cy="55824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84888" y="2842974"/>
            <a:ext cx="4259223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Кластеризація — розбиття набору об'єктів на групи так, щоб об'єкти всередині групи були </a:t>
            </a:r>
            <a:r>
              <a:rPr lang="en-US" sz="150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більш подібними</a:t>
            </a: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між собою, ніж з іншими групами.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9584888" y="4168378"/>
            <a:ext cx="4259223" cy="1026200"/>
          </a:xfrm>
          <a:prstGeom prst="roundRect">
            <a:avLst>
              <a:gd name="adj" fmla="val 2818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651" y="4453890"/>
            <a:ext cx="240983" cy="1927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11395" y="4380309"/>
            <a:ext cx="3439954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Метод навчання </a:t>
            </a:r>
            <a:r>
              <a:rPr lang="en-US" sz="1500" b="1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без учителя</a:t>
            </a:r>
            <a:r>
              <a:rPr lang="en-US" sz="15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мітки класів наперед не задаються.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9584888" y="5378887"/>
            <a:ext cx="4259223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Схожість вимірюється через евклідову, мангеттенську відстань, косинусну близькість та інші метрики.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08133"/>
            <a:ext cx="79734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Два підходи до кластеризації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70540"/>
            <a:ext cx="13042821" cy="2032754"/>
          </a:xfrm>
          <a:prstGeom prst="roundRect">
            <a:avLst>
              <a:gd name="adj" fmla="val 1674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793790" y="3370540"/>
            <a:ext cx="6521410" cy="2032754"/>
          </a:xfrm>
          <a:prstGeom prst="roundRect">
            <a:avLst>
              <a:gd name="adj" fmla="val 1674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1020604" y="3597354"/>
            <a:ext cx="31709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Жорстка кластеризація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4087773"/>
            <a:ext cx="606778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Кожен об'єкт належить </a:t>
            </a: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лише одному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кластеру. Приклад — алгоритм </a:t>
            </a: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k-means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 Добре працює при чітких межах між групами.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315200" y="3370540"/>
            <a:ext cx="6521410" cy="2032754"/>
          </a:xfrm>
          <a:prstGeom prst="rect">
            <a:avLst/>
          </a:prstGeom>
          <a:solidFill>
            <a:srgbClr val="F0EAE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7315200" y="3370540"/>
            <a:ext cx="30480" cy="2032754"/>
          </a:xfrm>
          <a:prstGeom prst="roundRect">
            <a:avLst>
              <a:gd name="adj" fmla="val 111628"/>
            </a:avLst>
          </a:prstGeom>
          <a:solidFill>
            <a:srgbClr val="D6D0D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7542014" y="3597354"/>
            <a:ext cx="30645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Нечітка кластеризація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42014" y="4087773"/>
            <a:ext cx="606778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Об'єкт може належати </a:t>
            </a: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кільком кластерам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одночасно з різним ступенем належності. Гнучкіший і реалістичніший опис даних.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565844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У реальних задачах об'єкти часто мають ознаки кількох груп — саме тоді нечіткі методи є більш доцільними.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8585"/>
            <a:ext cx="114550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Представлення результатів кластеризації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220992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Табличне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561874"/>
            <a:ext cx="637960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Матриця належності: рядки — об'єкти, стовпці — кластери. Для нечіткої кластеризації — ступені належності.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220992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Графічне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561874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Графіки розсіювання з кольоровим кодуванням. Інтенсивність кольору відображає ступінь належності.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5104209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9546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Центри кластерів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445091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Характеризують «середній» об'єкт групи, допомагають зрозуміти особливості кожного кластера.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5104209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9546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Метрики якості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445091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Коефіцієнт силуету, індекси Данна, Девіса–Болдіна, індекс нечіткої якості розбиття.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36495"/>
            <a:ext cx="67903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Сутність Fuzzy C-Means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8543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Кожен об'єкт отримує </a:t>
            </a: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ступені належності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до всіх кластерів одночасно, а не жорстко прикріплюється до одного.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466392"/>
            <a:ext cx="7556421" cy="1326713"/>
          </a:xfrm>
          <a:prstGeom prst="roundRect">
            <a:avLst>
              <a:gd name="adj" fmla="val 2565"/>
            </a:avLst>
          </a:prstGeom>
          <a:solidFill>
            <a:srgbClr val="DADAD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4818102"/>
            <a:ext cx="28348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0906" y="4749879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Приклад: клієнт магазину — </a:t>
            </a:r>
            <a:r>
              <a:rPr lang="en-US" sz="1750" b="1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70%</a:t>
            </a:r>
            <a:r>
              <a:rPr lang="en-US" sz="17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активний покупець · </a:t>
            </a:r>
            <a:r>
              <a:rPr lang="en-US" sz="1750" b="1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20%</a:t>
            </a:r>
            <a:r>
              <a:rPr lang="en-US" sz="17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сезонний · </a:t>
            </a:r>
            <a:r>
              <a:rPr lang="en-US" sz="1750" b="1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10%</a:t>
            </a:r>
            <a:r>
              <a:rPr lang="en-US" sz="17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випадковий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50325"/>
            <a:ext cx="73511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Математична модель FCM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260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Цільова функція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567470"/>
            <a:ext cx="6244709" cy="1000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567470"/>
            <a:ext cx="6244709" cy="10009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4855488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uij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ступінь належності i-го об'єкта до j-го кластера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параметр нечіткості (зазвичай m = 2)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cj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центр j-го кластера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36168" y="2699266"/>
            <a:ext cx="6571417" cy="3879890"/>
          </a:xfrm>
          <a:prstGeom prst="roundRect">
            <a:avLst>
              <a:gd name="adj" fmla="val 877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5"/>
          <p:cNvSpPr/>
          <p:nvPr/>
        </p:nvSpPr>
        <p:spPr>
          <a:xfrm>
            <a:off x="7662982" y="2926080"/>
            <a:ext cx="31368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Матриця належності U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62982" y="3507224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Значення uij ∈ [0, 1]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662982" y="4074200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Для кожного об'єкта: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662982" y="4724162"/>
            <a:ext cx="6117788" cy="1000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982" y="4724162"/>
            <a:ext cx="6117788" cy="10009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62982" y="6012180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Менше значення J → краще розбиття.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4370"/>
            <a:ext cx="67727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Етапи роботи алгоритму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25" y="1836777"/>
            <a:ext cx="12625030" cy="473749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84546" y="3043503"/>
            <a:ext cx="652135" cy="6521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203535" y="5240790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Перевірка збіжності</a:t>
            </a:r>
            <a:endParaRPr lang="en-US" sz="23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7120" y="3044725"/>
            <a:ext cx="652135" cy="65213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03678" y="5240790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Оновлення U</a:t>
            </a:r>
            <a:endParaRPr lang="en-US" sz="23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10307" y="3044725"/>
            <a:ext cx="652135" cy="65213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16864" y="5240790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Обчислення центрів</a:t>
            </a:r>
            <a:endParaRPr lang="en-US" sz="23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23493" y="3044725"/>
            <a:ext cx="652135" cy="65213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030050" y="5240790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Ініціалізація U</a:t>
            </a:r>
            <a:endParaRPr lang="en-US" sz="23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23636" y="3044725"/>
            <a:ext cx="652135" cy="65213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591065" y="5424203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Вибір C</a:t>
            </a:r>
            <a:endParaRPr lang="en-US" sz="2300" dirty="0"/>
          </a:p>
        </p:txBody>
      </p:sp>
      <p:sp>
        <p:nvSpPr>
          <p:cNvPr id="14" name="Text 6"/>
          <p:cNvSpPr/>
          <p:nvPr/>
        </p:nvSpPr>
        <p:spPr>
          <a:xfrm>
            <a:off x="793790" y="682942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Алгоритм працює ітераційно: кроки 3–4 повторюються до тих пір, поки зміни в матриці належності або центрах кластерів не стануть незначними.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85236"/>
            <a:ext cx="57009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Формули оновлення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609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Центр кластера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802380"/>
            <a:ext cx="6244709" cy="941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802380"/>
            <a:ext cx="6244709" cy="9417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99521" y="31609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Ступінь належності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99521" y="3802380"/>
            <a:ext cx="6244709" cy="1035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9521" y="3802380"/>
            <a:ext cx="6244709" cy="103596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93790" y="5380553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604" y="5732264"/>
            <a:ext cx="283488" cy="22681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30906" y="5664041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Об'єкт отримує </a:t>
            </a:r>
            <a:r>
              <a:rPr lang="en-US" sz="1750" b="1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вищий ступінь належності</a:t>
            </a:r>
            <a:r>
              <a:rPr lang="en-US" sz="17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до кластерів, центри яких розташовані ближче до нього.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27753"/>
            <a:ext cx="73291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Переваги та недоліки FCM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90161"/>
            <a:ext cx="13042821" cy="3011686"/>
          </a:xfrm>
          <a:prstGeom prst="roundRect">
            <a:avLst>
              <a:gd name="adj" fmla="val 1130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793790" y="3190161"/>
            <a:ext cx="6521410" cy="3011686"/>
          </a:xfrm>
          <a:prstGeom prst="roundRect">
            <a:avLst>
              <a:gd name="adj" fmla="val 1130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1020604" y="3416975"/>
            <a:ext cx="2835235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✅</a:t>
            </a: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Переваги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3922633"/>
            <a:ext cx="6067782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Описує нечіткі межі між кластерами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Надає ступені належності для кожного об'єкта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Ефективний у сегментації зображень та медичній діагностиці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Гнучкіший за жорсткі методи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315200" y="3190161"/>
            <a:ext cx="6521410" cy="3011686"/>
          </a:xfrm>
          <a:prstGeom prst="rect">
            <a:avLst/>
          </a:prstGeom>
          <a:solidFill>
            <a:srgbClr val="F0EAE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7315200" y="3190161"/>
            <a:ext cx="30480" cy="3011686"/>
          </a:xfrm>
          <a:prstGeom prst="roundRect">
            <a:avLst>
              <a:gd name="adj" fmla="val 111628"/>
            </a:avLst>
          </a:prstGeom>
          <a:solidFill>
            <a:srgbClr val="D6D0D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7542014" y="3416975"/>
            <a:ext cx="2835235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⚠️</a:t>
            </a: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Недоліки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42014" y="3922633"/>
            <a:ext cx="6067782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Потрібно задавати кількість кластерів C наперед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Чутливий до початкової ініціалізації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Може збігатися до локального мінімуму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Чутливий до викидів і шумів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6723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Висновки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816179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2"/>
          <p:cNvSpPr/>
          <p:nvPr/>
        </p:nvSpPr>
        <p:spPr>
          <a:xfrm>
            <a:off x="763310" y="1816179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3"/>
          <p:cNvSpPr/>
          <p:nvPr/>
        </p:nvSpPr>
        <p:spPr>
          <a:xfrm>
            <a:off x="1142524" y="20734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Кластеризація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2524" y="2563892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Ключовий інструмент виявлення прихованої структури даних без наперед заданих класів.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3773805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6"/>
          <p:cNvSpPr/>
          <p:nvPr/>
        </p:nvSpPr>
        <p:spPr>
          <a:xfrm>
            <a:off x="763310" y="3773805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1142524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Fuzzy C-Means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42524" y="4521517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Ефективний метод нечіткої кластеризації — особливо там, де межі між групами є умовними.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731431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0"/>
          <p:cNvSpPr/>
          <p:nvPr/>
        </p:nvSpPr>
        <p:spPr>
          <a:xfrm>
            <a:off x="763310" y="5731431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1"/>
          <p:cNvSpPr/>
          <p:nvPr/>
        </p:nvSpPr>
        <p:spPr>
          <a:xfrm>
            <a:off x="1142524" y="59887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Застосування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142524" y="6479143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Медицина, обробка зображень, маркетинг, фінанси, розпізнавання образів.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441</Words>
  <Application>Microsoft Macintosh PowerPoint</Application>
  <PresentationFormat>Custom</PresentationFormat>
  <Paragraphs>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Tomorrow Semi Bold</vt:lpstr>
      <vt:lpstr>Tomorrow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Стегней Віктор</cp:lastModifiedBy>
  <cp:revision>4</cp:revision>
  <dcterms:created xsi:type="dcterms:W3CDTF">2026-04-20T13:01:29Z</dcterms:created>
  <dcterms:modified xsi:type="dcterms:W3CDTF">2026-04-20T13:28:04Z</dcterms:modified>
</cp:coreProperties>
</file>
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90" r:id="rId33"/>
    <p:sldId id="291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ітлий стиль 1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3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A21AF-C656-4534-BD46-42A6B3F92BCB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02CA2-D166-49CC-B4C3-AC4D709240D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512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FB237-B717-CEB2-1757-8773EBFAE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9AFED33-83A9-E3A9-DB7E-0FD4E19EA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70519D-BE35-DDF6-9798-DFD84CDD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D07C85E-0464-FEF7-6F22-50FE9718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E71CAF-1DF9-D6B5-12E6-9584DA24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733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A3DD7-7217-744E-FD83-F00784E5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CD70117-09B3-8580-E638-F327F68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DF7234-0197-7265-00BF-A9A8E14F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3551EC-E09C-BA58-E7EE-9890F7DE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0A047C-EDD5-3E6A-0925-E0B48BBB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105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75850-8277-D932-20B5-10F08718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CECFD1F-2E42-8A99-FCB6-7EFB136A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917FD3-EFD9-5EE9-989E-3109C614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30AC14-D8F4-1D3E-AD30-123AE849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43B78BA-3636-961B-5806-8FD68244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064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3C669-0039-3767-2B89-B4E4901D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DC0632-4C4D-7DC5-4FF4-0C4D8F480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F0B9A5F-5FE1-C530-CDFB-F8A456696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1EEB8F2-02A3-2C10-1A0F-1789F04E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5655264-80F0-340F-0096-B826E494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98EEFE-67D6-8345-6B00-DA95C562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006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E148-4C92-B7ED-BAE0-2CE5D578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9C70B35-5D0E-7F8E-5DEA-D815455E2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A4996BF-DE9D-E35C-912F-4E87AED6D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5C65E0B-D9DB-F7BA-8567-0BED05D23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209645E-268B-C804-81BD-98CB3B68B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8E437DC-5258-BC31-41F3-5BF3C1C0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DB0FE65D-7118-7011-EF92-64122AB7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32C1A57-49EE-5EB5-C24F-DC56A0B4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411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A5C77-FF96-B123-B55F-23F88772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C88A610-B049-FA9A-5E10-4F129092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CE240E2-3367-5B5D-741F-E8B25CDE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DDC2900-0B37-DB06-33A1-7489A390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409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3D680DE-08A8-61E8-CE68-1A09A1EF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EF5CEC-1CFD-4613-09AD-615E312B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05FEA01-CD66-3DCA-D05A-64886F10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4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445EF-F840-7F3B-CE88-9A6C4382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A10E0E-CD7B-58DB-3652-263B375A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096A624-CEA5-F514-5892-173AD68B0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942F4C-0F08-0399-B608-CEE50198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778CC0A-C9DA-7203-24EE-05496E3E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E95430-3F3E-E00A-803F-BA250910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24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03E-4249-C03E-808D-2D00427F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F675AC6-9E4C-F7C6-388E-6A6651D09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0AAFCF0-65D2-A7B9-ABD3-2CDF7256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CC6FD97-A3C1-F5FC-E95F-E6A1C6D4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376AE7-DD84-3950-9346-2E713D10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70C0FE-607F-27D4-B08D-45D83B6E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508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B7A77-CF08-7DBE-B274-8F1C136C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81D4DB-BB87-571E-A34D-58E28DF3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3B2136A-ED40-7E88-60ED-91DBA88F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05B44C-7245-98ED-CED7-2CB71A1C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4A81F4D-C76A-5C32-D420-05033796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956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04CB109-D32A-ED02-0564-660B71A9A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1FC63C1-2B55-E94C-6609-F97441B7E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75A1B8-3036-D892-E2D3-5E67D21B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360391-4936-3536-B956-A318042A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84405C-DC51-239E-94DA-9FDE7EDC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268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9CDBD42-6102-395E-E5B0-AF1AE85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46F19B-8BA4-A923-0435-D3C15004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9AD7D9-0D80-CF16-22D3-3155F3099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CF329-D677-49B6-A1A8-3B2C2FC7781A}" type="datetimeFigureOut">
              <a:rPr lang="uk-UA" smtClean="0"/>
              <a:t>25.05.26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97E5821-ACCC-7897-23ED-8BA195CFB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79A7D9-7E4C-4737-E12C-6CA0E98C7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14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ple.com/app-store/" TargetMode="External"/><Relationship Id="rId13" Type="http://schemas.openxmlformats.org/officeDocument/2006/relationships/hyperlink" Target="http://formik.org/docs/guides/react-native" TargetMode="External"/><Relationship Id="rId18" Type="http://schemas.openxmlformats.org/officeDocument/2006/relationships/hyperlink" Target="https://developer.mozilla.org/en-US/docs/Web/API/XMLHttpRequest" TargetMode="External"/><Relationship Id="rId3" Type="http://schemas.openxmlformats.org/officeDocument/2006/relationships/hyperlink" Target="https://expo.dev/" TargetMode="External"/><Relationship Id="rId7" Type="http://schemas.openxmlformats.org/officeDocument/2006/relationships/hyperlink" Target="https://redis.io/" TargetMode="External"/><Relationship Id="rId12" Type="http://schemas.openxmlformats.org/officeDocument/2006/relationships/hyperlink" Target="https://docs.expo.dev/versions/latest/sdk/async-storage/" TargetMode="External"/><Relationship Id="rId17" Type="http://schemas.openxmlformats.org/officeDocument/2006/relationships/hyperlink" Target="https://react.dev/reference/react/useContext" TargetMode="External"/><Relationship Id="rId2" Type="http://schemas.openxmlformats.org/officeDocument/2006/relationships/hyperlink" Target="https://reactnative.dev/" TargetMode="External"/><Relationship Id="rId16" Type="http://schemas.openxmlformats.org/officeDocument/2006/relationships/hyperlink" Target="https://docs.swmansion.com/react-native-reanimated/" TargetMode="External"/><Relationship Id="rId20" Type="http://schemas.openxmlformats.org/officeDocument/2006/relationships/hyperlink" Target="https://apps.apple.com/ua/app/bazhay/id67371263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gresql.org/" TargetMode="External"/><Relationship Id="rId11" Type="http://schemas.openxmlformats.org/officeDocument/2006/relationships/hyperlink" Target="https://reactnavigation.org/" TargetMode="External"/><Relationship Id="rId5" Type="http://schemas.openxmlformats.org/officeDocument/2006/relationships/hyperlink" Target="https://www.django-rest-framework.org/" TargetMode="External"/><Relationship Id="rId15" Type="http://schemas.openxmlformats.org/officeDocument/2006/relationships/hyperlink" Target="https://github.com/DylanVann/react-native-fast-image" TargetMode="External"/><Relationship Id="rId10" Type="http://schemas.openxmlformats.org/officeDocument/2006/relationships/hyperlink" Target="https://firebase.google.com/docs/analytics" TargetMode="External"/><Relationship Id="rId19" Type="http://schemas.openxmlformats.org/officeDocument/2006/relationships/hyperlink" Target="https://play.google.com/store/apps/details?id=com.ivanfranco.BAZHAYRN&amp;hl=uk" TargetMode="External"/><Relationship Id="rId4" Type="http://schemas.openxmlformats.org/officeDocument/2006/relationships/hyperlink" Target="https://firebase.google.com/" TargetMode="External"/><Relationship Id="rId9" Type="http://schemas.openxmlformats.org/officeDocument/2006/relationships/hyperlink" Target="https://play.google.com/" TargetMode="External"/><Relationship Id="rId14" Type="http://schemas.openxmlformats.org/officeDocument/2006/relationships/hyperlink" Target="https://www.npmjs.com/package/yup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C6CD-55AA-B9CD-7274-418742E22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2371"/>
            <a:ext cx="9144000" cy="1115556"/>
          </a:xfrm>
        </p:spPr>
        <p:txBody>
          <a:bodyPr>
            <a:normAutofit/>
          </a:bodyPr>
          <a:lstStyle/>
          <a:p>
            <a:r>
              <a:rPr lang="uk-UA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РОЗРОБКА КЛІЄНТСЬКОЇ ЧАСТИНИ МОБІЛЬНОГО ЗАСТОСУНКУ ДЛЯ ОБМІНУ ПОДАРУНКАМИ «BAZHAY!»</a:t>
            </a:r>
            <a:endParaRPr lang="uk-UA" sz="72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D2E0F8-CFB0-DAA5-7D34-A8B2A912A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1196" y="0"/>
            <a:ext cx="9144000" cy="1655762"/>
          </a:xfrm>
        </p:spPr>
        <p:txBody>
          <a:bodyPr>
            <a:normAutofit/>
          </a:bodyPr>
          <a:lstStyle/>
          <a:p>
            <a:pPr marR="92075" indent="450215" algn="ctr">
              <a:lnSpc>
                <a:spcPct val="200000"/>
              </a:lnSpc>
            </a:pP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ЛЬВІВСЬКИЙ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НАЦІОНАЛЬНИЙ</a:t>
            </a:r>
            <a:r>
              <a:rPr lang="uk-UA" sz="1800" b="1" spc="-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УНІВЕРСИТЕТ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ІМЕНІ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ІВАНА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ФРАНКА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315"/>
              </a:spcBef>
              <a:spcAft>
                <a:spcPts val="0"/>
              </a:spcAft>
              <a:tabLst>
                <a:tab pos="1024890" algn="l"/>
                <a:tab pos="537972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Факультет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прикладної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математики</a:t>
            </a:r>
            <a:r>
              <a:rPr lang="uk-UA" sz="1800" u="sng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інформатики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905"/>
              </a:spcBef>
              <a:spcAft>
                <a:spcPts val="0"/>
              </a:spcAft>
              <a:tabLst>
                <a:tab pos="936625" algn="l"/>
                <a:tab pos="403606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Кафедра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uk-UA" sz="1800" u="sng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206375" indent="450215" algn="ctr">
              <a:lnSpc>
                <a:spcPct val="150000"/>
              </a:lnSpc>
              <a:spcBef>
                <a:spcPts val="5"/>
              </a:spcBef>
              <a:spcAft>
                <a:spcPts val="0"/>
              </a:spcAft>
            </a:pP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77F7E-5117-7705-85EF-A62E5AAEE8FC}"/>
              </a:ext>
            </a:extLst>
          </p:cNvPr>
          <p:cNvSpPr txBox="1"/>
          <p:nvPr/>
        </p:nvSpPr>
        <p:spPr>
          <a:xfrm>
            <a:off x="6096000" y="5948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0655" algn="l">
              <a:spcBef>
                <a:spcPts val="875"/>
              </a:spcBef>
              <a:spcAft>
                <a:spcPts val="0"/>
              </a:spcAft>
            </a:pP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Виконав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Стегней В. І.</a:t>
            </a: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2700655" algn="l"/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Керівник 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uk-UA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Горлач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В.М.</a:t>
            </a:r>
            <a:endParaRPr lang="uk-UA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1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27677-F961-4D4B-E03D-6BF4EC16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uk-UA" sz="5400">
                <a:latin typeface="Times New Roman" panose="02020603050405020304" pitchFamily="18" charset="0"/>
                <a:cs typeface="Times New Roman" panose="02020603050405020304" pitchFamily="18" charset="0"/>
              </a:rPr>
              <a:t>Вступ</a:t>
            </a:r>
          </a:p>
        </p:txBody>
      </p:sp>
      <p:pic>
        <p:nvPicPr>
          <p:cNvPr id="5" name="Рисунок 4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25F22E94-0D0D-033E-16EA-4F604352B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8F8FF9-700B-BE7B-F23D-F483CC9A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«BAZHAY!» — це мобільний застосунок, що дозволяє користувачам публікувати власні бажання та списки бажань (</a:t>
            </a:r>
            <a:r>
              <a:rPr lang="uk-UA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вішлисти</a:t>
            </a:r>
            <a:r>
              <a:rPr lang="uk-UA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надаючи друзям, рідним і близьким можливість резервувати чи дарувати ці бажання.</a:t>
            </a:r>
            <a:endParaRPr lang="uk-UA" sz="2200" dirty="0"/>
          </a:p>
        </p:txBody>
      </p:sp>
    </p:spTree>
    <p:extLst>
      <p:ext uri="{BB962C8B-B14F-4D97-AF65-F5344CB8AC3E}">
        <p14:creationId xmlns:p14="http://schemas.microsoft.com/office/powerpoint/2010/main" val="100187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D7BCF-D9A2-A82E-1056-08C8040E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uk-UA" sz="5000" kern="0">
                <a:latin typeface="Times New Roman" panose="02020603050405020304" pitchFamily="18" charset="0"/>
              </a:rPr>
              <a:t>Постановка задачі</a:t>
            </a:r>
            <a:endParaRPr lang="uk-UA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A44718-2945-F4AC-59A7-96946BB63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даної роботи має бути реалізований повнофункціональний мобільний застосунок, який може бути використаний широким колом користувачів для планування та здійснення бажань.</a:t>
            </a:r>
            <a:endParaRPr lang="uk-UA" sz="220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sz="2200"/>
          </a:p>
        </p:txBody>
      </p:sp>
      <p:pic>
        <p:nvPicPr>
          <p:cNvPr id="4" name="Рисунок 3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3BFB901F-BFD2-9683-B120-AF9E20A4F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418BA-4C45-2F5B-B7EE-4BA1F1C1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даних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AA237F-D809-6F43-D539-D69BE72B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рамках клієнтської частини мобільного додатку «BAZHAY!» використовується спрощене, але достатньо функціональне представлення даних, яке дозволяє зручно відображати, зберігати у локальному стані та надсилати інформацію до серверної частини.</a:t>
            </a:r>
            <a:endParaRPr lang="uk-UA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108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BF2CC-D0D9-40B6-02BF-B7DE48B6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User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Таблиця 11">
            <a:extLst>
              <a:ext uri="{FF2B5EF4-FFF2-40B4-BE49-F238E27FC236}">
                <a16:creationId xmlns:a16="http://schemas.microsoft.com/office/drawing/2014/main" id="{14E7A686-A27E-9CED-73D1-5C024B199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9851"/>
              </p:ext>
            </p:extLst>
          </p:nvPr>
        </p:nvGraphicFramePr>
        <p:xfrm>
          <a:off x="4996206" y="107029"/>
          <a:ext cx="6089716" cy="63082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5295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2404421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id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email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username 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first_name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last_name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birthday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 err="1"/>
                        <a:t>view_birthday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boolean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sex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string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522556700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photo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about_user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65660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subscriber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1224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1557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is_premium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93795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is_unviewed_notification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73948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is_already_registered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64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74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46931-960A-BFBA-EEE0-9F2BF6BF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Wish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71899B5-F6B2-0054-411A-BDFE7C5D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35516"/>
              </p:ext>
            </p:extLst>
          </p:nvPr>
        </p:nvGraphicFramePr>
        <p:xfrm>
          <a:off x="4654296" y="679223"/>
          <a:ext cx="7214617" cy="5472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31884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3082733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price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number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link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currency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access_type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photo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video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38297952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author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User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795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78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B0A69-EBDA-409B-7930-38F442F9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409773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Reservation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A4D2AD97-18CE-3351-D6C6-8E963025D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90153"/>
              </p:ext>
            </p:extLst>
          </p:nvPr>
        </p:nvGraphicFramePr>
        <p:xfrm>
          <a:off x="5821511" y="1940052"/>
          <a:ext cx="4880187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95027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selected_user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wish_id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candidates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User[]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73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B9AC7-00D5-1D49-1F7E-76878DA8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Brand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0A521F95-881B-DB86-E9AB-39AF764DF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68034"/>
              </p:ext>
            </p:extLst>
          </p:nvPr>
        </p:nvGraphicFramePr>
        <p:xfrm>
          <a:off x="6019419" y="1202436"/>
          <a:ext cx="4484371" cy="4425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4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nickname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cover_photo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73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5EBD0-2195-BBB6-448E-724AB74FE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Article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CE174C78-1F4F-F577-C509-19EBB5199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07178"/>
              </p:ext>
            </p:extLst>
          </p:nvPr>
        </p:nvGraphicFramePr>
        <p:xfrm>
          <a:off x="6159119" y="1940052"/>
          <a:ext cx="4204971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30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title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9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9123A-23F1-9CDA-8223-96BEE6B7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302769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Subscription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CC2940C-7301-85F8-5AF9-D81CEA0DA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179003"/>
              </p:ext>
            </p:extLst>
          </p:nvPr>
        </p:nvGraphicFramePr>
        <p:xfrm>
          <a:off x="5868077" y="2308860"/>
          <a:ext cx="4787054" cy="2212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subscribed_to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81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70FA9-E1CC-25B2-F16A-45ED8A60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Використаний набір технологій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55764-494D-B212-AC81-EDD49D5F825B}"/>
              </a:ext>
            </a:extLst>
          </p:cNvPr>
          <p:cNvSpPr txBox="1"/>
          <p:nvPr/>
        </p:nvSpPr>
        <p:spPr>
          <a:xfrm>
            <a:off x="5719266" y="2882509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487CA-465C-B7AC-5E78-178AC57CBFD7}"/>
              </a:ext>
            </a:extLst>
          </p:cNvPr>
          <p:cNvSpPr txBox="1"/>
          <p:nvPr/>
        </p:nvSpPr>
        <p:spPr>
          <a:xfrm>
            <a:off x="8776890" y="2882509"/>
            <a:ext cx="147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00ABF-1529-2CC9-6877-4CD517C1F321}"/>
              </a:ext>
            </a:extLst>
          </p:cNvPr>
          <p:cNvSpPr txBox="1"/>
          <p:nvPr/>
        </p:nvSpPr>
        <p:spPr>
          <a:xfrm>
            <a:off x="5839664" y="5836023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C99F6-0180-9F29-974F-214C74D40452}"/>
              </a:ext>
            </a:extLst>
          </p:cNvPr>
          <p:cNvSpPr txBox="1"/>
          <p:nvPr/>
        </p:nvSpPr>
        <p:spPr>
          <a:xfrm>
            <a:off x="8900725" y="5836023"/>
            <a:ext cx="106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React Native — Википедия">
            <a:extLst>
              <a:ext uri="{FF2B5EF4-FFF2-40B4-BE49-F238E27FC236}">
                <a16:creationId xmlns:a16="http://schemas.microsoft.com/office/drawing/2014/main" id="{46C92191-6D90-0824-6999-C2ACBC0B9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639193"/>
            <a:ext cx="2162301" cy="192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Expo">
            <a:extLst>
              <a:ext uri="{FF2B5EF4-FFF2-40B4-BE49-F238E27FC236}">
                <a16:creationId xmlns:a16="http://schemas.microsoft.com/office/drawing/2014/main" id="{36437889-5D4A-E2C4-D43B-411E636DA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864" y="639194"/>
            <a:ext cx="2105900" cy="210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TypeScript — Википедия">
            <a:extLst>
              <a:ext uri="{FF2B5EF4-FFF2-40B4-BE49-F238E27FC236}">
                <a16:creationId xmlns:a16="http://schemas.microsoft.com/office/drawing/2014/main" id="{5E17E133-D263-D80B-C0C9-9C6D04DFA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3455961"/>
            <a:ext cx="2249716" cy="224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Firebase | Google's Mobile and Web App Development Platform">
            <a:extLst>
              <a:ext uri="{FF2B5EF4-FFF2-40B4-BE49-F238E27FC236}">
                <a16:creationId xmlns:a16="http://schemas.microsoft.com/office/drawing/2014/main" id="{4DA618AA-7DB6-F73F-8D81-8E9A34543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29" y="3479311"/>
            <a:ext cx="2152592" cy="215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50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CDF25-5793-E2BD-67E9-480623C8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Додаткові бібліотеки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A1D2B7-636B-66C6-F87F-44DAADB3D4BF}"/>
              </a:ext>
            </a:extLst>
          </p:cNvPr>
          <p:cNvSpPr txBox="1"/>
          <p:nvPr/>
        </p:nvSpPr>
        <p:spPr>
          <a:xfrm>
            <a:off x="5138344" y="3224311"/>
            <a:ext cx="18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Navigation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621A8-E247-9685-3F7F-FE7B3647D223}"/>
              </a:ext>
            </a:extLst>
          </p:cNvPr>
          <p:cNvSpPr txBox="1"/>
          <p:nvPr/>
        </p:nvSpPr>
        <p:spPr>
          <a:xfrm>
            <a:off x="7246019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9F22E-AFBE-0EE0-ED39-DD7CC7FB79A0}"/>
              </a:ext>
            </a:extLst>
          </p:cNvPr>
          <p:cNvSpPr txBox="1"/>
          <p:nvPr/>
        </p:nvSpPr>
        <p:spPr>
          <a:xfrm>
            <a:off x="8956983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Yup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0553F-C3C1-6D7E-E9F7-AA25778AF0D6}"/>
              </a:ext>
            </a:extLst>
          </p:cNvPr>
          <p:cNvSpPr txBox="1"/>
          <p:nvPr/>
        </p:nvSpPr>
        <p:spPr>
          <a:xfrm>
            <a:off x="5275822" y="5279443"/>
            <a:ext cx="255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Fast Image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3363F1-3442-E98F-BB47-2931449A5484}"/>
              </a:ext>
            </a:extLst>
          </p:cNvPr>
          <p:cNvSpPr txBox="1"/>
          <p:nvPr/>
        </p:nvSpPr>
        <p:spPr>
          <a:xfrm>
            <a:off x="8017448" y="5279443"/>
            <a:ext cx="253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Reanimated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" descr="React Navigation · GitHub">
            <a:extLst>
              <a:ext uri="{FF2B5EF4-FFF2-40B4-BE49-F238E27FC236}">
                <a16:creationId xmlns:a16="http://schemas.microsoft.com/office/drawing/2014/main" id="{F269F2F1-E997-E132-E9FB-EB82FA8C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25" y="1313365"/>
            <a:ext cx="1712929" cy="17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AsyncStorage · GitHub">
            <a:extLst>
              <a:ext uri="{FF2B5EF4-FFF2-40B4-BE49-F238E27FC236}">
                <a16:creationId xmlns:a16="http://schemas.microsoft.com/office/drawing/2014/main" id="{2CBCCC88-44B3-8F25-A044-449EADBF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39" y="1495555"/>
            <a:ext cx="1342141" cy="134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formik&quot; Icon - Download for free – Iconduck">
            <a:extLst>
              <a:ext uri="{FF2B5EF4-FFF2-40B4-BE49-F238E27FC236}">
                <a16:creationId xmlns:a16="http://schemas.microsoft.com/office/drawing/2014/main" id="{4E3D52B5-699F-5B03-973D-C66F6C71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425" y="1512132"/>
            <a:ext cx="1342140" cy="134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Supercharge Your App's Image Performance with react-native-fast-image | by  Harshit Kishor | Medium">
            <a:extLst>
              <a:ext uri="{FF2B5EF4-FFF2-40B4-BE49-F238E27FC236}">
                <a16:creationId xmlns:a16="http://schemas.microsoft.com/office/drawing/2014/main" id="{E6F607D6-ADFB-4244-FED3-AB0BDA4C7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5" r="22536" b="44740"/>
          <a:stretch/>
        </p:blipFill>
        <p:spPr bwMode="auto">
          <a:xfrm>
            <a:off x="5562746" y="4171874"/>
            <a:ext cx="1775185" cy="56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Графіка 33">
            <a:extLst>
              <a:ext uri="{FF2B5EF4-FFF2-40B4-BE49-F238E27FC236}">
                <a16:creationId xmlns:a16="http://schemas.microsoft.com/office/drawing/2014/main" id="{1AC14CAD-C93F-C9D3-9BF3-2BD838A84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2724" y="4054594"/>
            <a:ext cx="1712929" cy="99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1A89-33E0-1765-4ED9-9C19FF08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Серверні взаємодії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Basics of Django Rest Framework | Caktus Group">
            <a:extLst>
              <a:ext uri="{FF2B5EF4-FFF2-40B4-BE49-F238E27FC236}">
                <a16:creationId xmlns:a16="http://schemas.microsoft.com/office/drawing/2014/main" id="{E0A3C82E-AFB9-4E86-6498-3C72CF0B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463" y="351352"/>
            <a:ext cx="3072395" cy="204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64D27B-9DA7-97E8-2E4B-1CF03092C0C2}"/>
              </a:ext>
            </a:extLst>
          </p:cNvPr>
          <p:cNvSpPr txBox="1"/>
          <p:nvPr/>
        </p:nvSpPr>
        <p:spPr>
          <a:xfrm>
            <a:off x="5978938" y="2395891"/>
            <a:ext cx="880515" cy="37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5A85C-4665-B4F9-D7DE-FDD35124D659}"/>
              </a:ext>
            </a:extLst>
          </p:cNvPr>
          <p:cNvSpPr txBox="1"/>
          <p:nvPr/>
        </p:nvSpPr>
        <p:spPr>
          <a:xfrm>
            <a:off x="7460724" y="542013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98D58-810B-B5E7-62B5-FAD7C4F90AAC}"/>
              </a:ext>
            </a:extLst>
          </p:cNvPr>
          <p:cNvSpPr txBox="1"/>
          <p:nvPr/>
        </p:nvSpPr>
        <p:spPr>
          <a:xfrm>
            <a:off x="9422085" y="2405438"/>
            <a:ext cx="150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Графіка 15">
            <a:extLst>
              <a:ext uri="{FF2B5EF4-FFF2-40B4-BE49-F238E27FC236}">
                <a16:creationId xmlns:a16="http://schemas.microsoft.com/office/drawing/2014/main" id="{9037B7E4-C442-01CA-7C50-C2C6BF3AE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9067" y="3410569"/>
            <a:ext cx="1772239" cy="1827622"/>
          </a:xfrm>
          <a:prstGeom prst="rect">
            <a:avLst/>
          </a:prstGeom>
        </p:spPr>
      </p:pic>
      <p:pic>
        <p:nvPicPr>
          <p:cNvPr id="17" name="Графіка 16">
            <a:extLst>
              <a:ext uri="{FF2B5EF4-FFF2-40B4-BE49-F238E27FC236}">
                <a16:creationId xmlns:a16="http://schemas.microsoft.com/office/drawing/2014/main" id="{E13F6A45-9F76-CC19-65D3-762154B94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5203" y="438150"/>
            <a:ext cx="2008226" cy="172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4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3C083-4CDB-2787-49F9-778C6DDD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Архітектура застосунку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7CCA71-983F-E8A5-4E5E-001A8750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71" y="640080"/>
            <a:ext cx="5936265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3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Аутентифікація та навігація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FDCD1-B48B-73AA-E075-32185063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15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8223230-52CB-D139-14CB-E8E6DE9AF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1453" y="2478024"/>
            <a:ext cx="3872243" cy="36941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A" altLang="en-UA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Було підтримано кілька сценаріїв входу: через email-код, Google, Apple та гостьовий режим. Пара access/refresh токенів зберігається локально, а у випадку відповіді 401 клієнт автоматично оновлює access token. Також реалізовано поетапне завершення реєстрації з можливістю відновлення незавершеного профілю, а deep links відкривають профілі, бренди, новини, сповіщення та окремі бажання напряму.</a:t>
            </a:r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D503D-85B7-6725-3AB2-5FEBE6CC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/>
              <a:t>Інтерфейс користувача</a:t>
            </a:r>
            <a:br>
              <a:rPr lang="en-US" sz="3100"/>
            </a:br>
            <a:r>
              <a:rPr lang="en-US" sz="3100"/>
              <a:t>Вітальні екрани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DE1BFE21-57F2-30C7-7433-970536979F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021" y="2216622"/>
            <a:ext cx="1851481" cy="4003204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, лист&#10;&#10;Автоматично згенерований опис">
            <a:extLst>
              <a:ext uri="{FF2B5EF4-FFF2-40B4-BE49-F238E27FC236}">
                <a16:creationId xmlns:a16="http://schemas.microsoft.com/office/drawing/2014/main" id="{C3228FFC-E87C-9ABA-BDD7-F4422CBF2E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2216622"/>
            <a:ext cx="1851481" cy="4003204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623F57A3-DEBE-9774-341C-13FECECC60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1"/>
          <a:stretch/>
        </p:blipFill>
        <p:spPr bwMode="auto">
          <a:xfrm>
            <a:off x="3120389" y="2216621"/>
            <a:ext cx="1816051" cy="400320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7371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D9136-6BAC-6D6C-A755-159EF952CC25}"/>
              </a:ext>
            </a:extLst>
          </p:cNvPr>
          <p:cNvSpPr txBox="1"/>
          <p:nvPr/>
        </p:nvSpPr>
        <p:spPr>
          <a:xfrm>
            <a:off x="640080" y="667512"/>
            <a:ext cx="10908792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Екрани реєстрації та входу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744583 w 4572000"/>
              <a:gd name="csY1" fmla="*/ 0 h 18288"/>
              <a:gd name="csX2" fmla="*/ 1352006 w 4572000"/>
              <a:gd name="csY2" fmla="*/ 0 h 18288"/>
              <a:gd name="csX3" fmla="*/ 2050869 w 4572000"/>
              <a:gd name="csY3" fmla="*/ 0 h 18288"/>
              <a:gd name="csX4" fmla="*/ 2612571 w 4572000"/>
              <a:gd name="csY4" fmla="*/ 0 h 18288"/>
              <a:gd name="csX5" fmla="*/ 3357154 w 4572000"/>
              <a:gd name="csY5" fmla="*/ 0 h 18288"/>
              <a:gd name="csX6" fmla="*/ 401029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265714 w 4572000"/>
              <a:gd name="csY10" fmla="*/ 18288 h 18288"/>
              <a:gd name="csX11" fmla="*/ 2521131 w 4572000"/>
              <a:gd name="csY11" fmla="*/ 18288 h 18288"/>
              <a:gd name="csX12" fmla="*/ 1867989 w 4572000"/>
              <a:gd name="csY12" fmla="*/ 18288 h 18288"/>
              <a:gd name="csX13" fmla="*/ 1352006 w 4572000"/>
              <a:gd name="csY13" fmla="*/ 18288 h 18288"/>
              <a:gd name="csX14" fmla="*/ 83602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00BFC19C-2AD4-2A06-DE31-41651014C6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34" y="1970528"/>
            <a:ext cx="1965301" cy="4249301"/>
          </a:xfrm>
          <a:prstGeom prst="rect">
            <a:avLst/>
          </a:prstGeom>
        </p:spPr>
      </p:pic>
      <p:pic>
        <p:nvPicPr>
          <p:cNvPr id="13" name="Рисунок 12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110A75DD-1204-468A-34FF-A75BBED5D4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18" y="1970528"/>
            <a:ext cx="1965300" cy="4249300"/>
          </a:xfrm>
          <a:prstGeom prst="rect">
            <a:avLst/>
          </a:prstGeom>
        </p:spPr>
      </p:pic>
      <p:pic>
        <p:nvPicPr>
          <p:cNvPr id="11" name="Рисунок 10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12CB30AA-8B13-C0D4-BB91-FB811A22DE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776" y="1970529"/>
            <a:ext cx="1954677" cy="4249299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409AA4CE-5F48-12EC-C75C-ADB9697EBF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67" y="1970529"/>
            <a:ext cx="1954677" cy="424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4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F959FADC-7BC8-8A95-3B6D-0B784886B1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2" y="1123527"/>
            <a:ext cx="2129719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5BA8998A-6B3F-1FA3-54AA-198F4C6E09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Шрифт, квитанція&#10;&#10;Автоматично згенерований опис">
            <a:extLst>
              <a:ext uri="{FF2B5EF4-FFF2-40B4-BE49-F238E27FC236}">
                <a16:creationId xmlns:a16="http://schemas.microsoft.com/office/drawing/2014/main" id="{960B105A-BDDA-B8D7-8FD3-915084AA34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00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3F5B6-D65C-DC0E-3240-F9C8515D9EDF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Головна стрічка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F7D44FAB-94A0-B8EB-0B17-8248CD195B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90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88F1D-8DB5-565D-5439-3B95B11E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>
                <a:effectLst/>
              </a:rPr>
              <a:t>Сторінки брендів, новин та бажань</a:t>
            </a:r>
            <a:endParaRPr lang="en-US" sz="56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5518C9-34BD-2CE0-5255-7DD87436E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786" y="1960720"/>
            <a:ext cx="1969835" cy="4259105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лист, Шрифт&#10;&#10;Автоматично згенерований опис">
            <a:extLst>
              <a:ext uri="{FF2B5EF4-FFF2-40B4-BE49-F238E27FC236}">
                <a16:creationId xmlns:a16="http://schemas.microsoft.com/office/drawing/2014/main" id="{C1D5294A-DD9B-7599-0904-3BD841DA5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72" y="1960720"/>
            <a:ext cx="1969835" cy="42591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1ABFC5F6-D537-C7A2-E971-E9B0D545E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33" y="1960720"/>
            <a:ext cx="1969835" cy="42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48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C4F26-3F9C-94C4-7818-79B70C1E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пошуку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схема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A716563-56BC-01AA-5620-79BA0120C5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585" y="2059128"/>
            <a:ext cx="1937537" cy="4189272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925F5845-A3B2-F2D2-4A79-3E534219CF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79" y="2059128"/>
            <a:ext cx="1937538" cy="41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90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E481-3DE8-2B6E-689F-9C4804AA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“Ком’юніті”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8BB4EC92-4EED-DF0F-C29A-ECFCED6FD6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435" y="2038095"/>
            <a:ext cx="1947266" cy="42103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BF1EAC-421A-880B-0D0D-20D29F862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55" y="2038095"/>
            <a:ext cx="1947266" cy="421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35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A2F75-E961-5BCB-EF7F-67A0538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Створення</a:t>
            </a:r>
            <a:r>
              <a:rPr lang="en-US" sz="6600" dirty="0"/>
              <a:t> </a:t>
            </a:r>
            <a:r>
              <a:rPr lang="en-US" sz="6600" dirty="0" err="1"/>
              <a:t>бажання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3C3259D7-F26F-ED16-96C4-53DA81E824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56" y="1892552"/>
            <a:ext cx="1989290" cy="4301170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9A81A62D-FC84-511C-4DD7-4057CE885E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720" y="1892552"/>
            <a:ext cx="1989290" cy="4301170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5F378605-004C-7425-2589-19C9BBEB91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792" y="1892552"/>
            <a:ext cx="1989290" cy="430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82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229A3684-3559-BB9E-DB26-479792C2CF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Зображення, що містить текст, знімок екрана, Комп’ютерна миша, миша&#10;&#10;Автоматично згенерований опис">
            <a:extLst>
              <a:ext uri="{FF2B5EF4-FFF2-40B4-BE49-F238E27FC236}">
                <a16:creationId xmlns:a16="http://schemas.microsoft.com/office/drawing/2014/main" id="{4184AC34-09FA-4EB8-093F-CC50698FF6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Зображення, що містить текст, знімок екрана, Веб-сайт, Веб-сторінка&#10;&#10;Автоматично згенерований опис">
            <a:extLst>
              <a:ext uri="{FF2B5EF4-FFF2-40B4-BE49-F238E27FC236}">
                <a16:creationId xmlns:a16="http://schemas.microsoft.com/office/drawing/2014/main" id="{6253600A-5963-61D7-0475-13B2EBEB45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64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2832D2E5-F4B1-8A03-D121-FEB2F7B074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лист, ескіз&#10;&#10;Автоматично згенерований опис">
            <a:extLst>
              <a:ext uri="{FF2B5EF4-FFF2-40B4-BE49-F238E27FC236}">
                <a16:creationId xmlns:a16="http://schemas.microsoft.com/office/drawing/2014/main" id="{215BBB9A-BE78-9537-AD71-36E3F3FD9A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A72E00FA-C7E3-4B22-A361-EEEBD6DF9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54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87216-91AD-199B-648F-3A062BE3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Профіль користувача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6BD8DDBE-B039-6CA7-7528-8E0DA6C0E4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1" y="320040"/>
            <a:ext cx="2751466" cy="59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6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97109-D78F-473B-A303-7CD7EFA9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налаштувань</a:t>
            </a:r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F82E07F0-8C7F-3EB6-64B0-139B03B53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99" y="320040"/>
            <a:ext cx="2728650" cy="5899785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40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6BCE6-F5F2-A278-ADFE-A53C1CA5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редагування профілю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коло, схема&#10;&#10;Автоматично згенерований опис">
            <a:extLst>
              <a:ext uri="{FF2B5EF4-FFF2-40B4-BE49-F238E27FC236}">
                <a16:creationId xmlns:a16="http://schemas.microsoft.com/office/drawing/2014/main" id="{6A1158D2-1B2E-65CC-C2C0-4E1D32A43A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99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939CF-CBF6-5C72-0A6F-6E73C91D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Сторінки технічної підтримки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136397E6-0240-A119-F910-9C2C695A8A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347" y="2000042"/>
            <a:ext cx="1960107" cy="4238072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79FB282F-3B54-D355-CD6F-B3E0763A21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307" y="2000042"/>
            <a:ext cx="1960107" cy="4238072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E7F8377F-329E-E559-092B-F4B5926B2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267" y="2000042"/>
            <a:ext cx="1960107" cy="42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9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24BD9-5B16-1FB1-D797-1EC740DB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Анімація</a:t>
            </a:r>
            <a:r>
              <a:rPr lang="en-US" sz="6600" dirty="0"/>
              <a:t> </a:t>
            </a:r>
            <a:r>
              <a:rPr lang="en-US" sz="6600" dirty="0" err="1"/>
              <a:t>логотипу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, Графіка&#10;&#10;Автоматично згенерований опис">
            <a:extLst>
              <a:ext uri="{FF2B5EF4-FFF2-40B4-BE49-F238E27FC236}">
                <a16:creationId xmlns:a16="http://schemas.microsoft.com/office/drawing/2014/main" id="{9303A879-4FD2-E8F9-B982-1A918FDED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22" y="1876590"/>
            <a:ext cx="2008745" cy="4343235"/>
          </a:xfrm>
          <a:prstGeom prst="rect">
            <a:avLst/>
          </a:prstGeom>
        </p:spPr>
      </p:pic>
      <p:pic>
        <p:nvPicPr>
          <p:cNvPr id="4" name="Рисунок 3" descr="Зображення, що містить знімок екрана, графічний дизайн, Графіка, дизайн&#10;&#10;Автоматично згенерований опис">
            <a:extLst>
              <a:ext uri="{FF2B5EF4-FFF2-40B4-BE49-F238E27FC236}">
                <a16:creationId xmlns:a16="http://schemas.microsoft.com/office/drawing/2014/main" id="{ECA63BB5-07AA-C630-AB51-7CC0DD969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1876590"/>
            <a:ext cx="2008745" cy="4343235"/>
          </a:xfrm>
          <a:prstGeom prst="rect">
            <a:avLst/>
          </a:prstGeom>
        </p:spPr>
      </p:pic>
      <p:pic>
        <p:nvPicPr>
          <p:cNvPr id="5" name="Рисунок 4" descr="Зображення, що містить знімок екрана, Графіка, творчість&#10;&#10;Автоматично згенерований опис">
            <a:extLst>
              <a:ext uri="{FF2B5EF4-FFF2-40B4-BE49-F238E27FC236}">
                <a16:creationId xmlns:a16="http://schemas.microsoft.com/office/drawing/2014/main" id="{AD5D9EF8-6A49-57ED-6A1E-5EE68C764D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458" y="1844547"/>
            <a:ext cx="2008745" cy="434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14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Push-сповіщення і кешування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62EFC-4127-D602-9B62-417275233617}"/>
              </a:ext>
            </a:extLst>
          </p:cNvPr>
          <p:cNvSpPr txBox="1"/>
          <p:nvPr/>
        </p:nvSpPr>
        <p:spPr>
          <a:xfrm>
            <a:off x="4851058" y="4368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клієнтській частині реалізовано повний цикл роботи з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 Notifications: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 дозволу, формування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 Push Token,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його збереження та передача на сервер. Після натискання на сповіщення користувач одразу переходить до потрібного екрана завдяки їх опрацюванню на клієнті. 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87708E8-D553-3A75-7BC4-0E2A28AD9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17012" r="2624"/>
          <a:stretch>
            <a:fillRect/>
          </a:stretch>
        </p:blipFill>
        <p:spPr>
          <a:xfrm>
            <a:off x="5356347" y="2039368"/>
            <a:ext cx="5085422" cy="25864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A42384-0663-1972-FEF9-758708B83A47}"/>
              </a:ext>
            </a:extLst>
          </p:cNvPr>
          <p:cNvSpPr txBox="1"/>
          <p:nvPr/>
        </p:nvSpPr>
        <p:spPr>
          <a:xfrm>
            <a:off x="4851058" y="475094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Кешувальний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шар на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працює з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TTL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окремих сутностей і колекцій, а після мутацій і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push-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подій кеш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інвалідується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що забезпечує швидкість роботи інтерфейсу та актуальність даних.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63" y="1198418"/>
            <a:ext cx="3664824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 та підтримка</a:t>
            </a:r>
            <a:endParaRPr lang="uk-UA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C426A-396E-617A-B8F9-7F2BBA5E9E69}"/>
              </a:ext>
            </a:extLst>
          </p:cNvPr>
          <p:cNvSpPr txBox="1"/>
          <p:nvPr/>
        </p:nvSpPr>
        <p:spPr>
          <a:xfrm>
            <a:off x="4775711" y="7268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Analytics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фіксує перегляди екранів, створення бажань, виконання бажань та інші бізнес-події.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Crashlytics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дає змогу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моніторити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стабільність застосунку й визначати причини аварійних завершень.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81F2FC-BD78-2CEF-F73D-D67A48E4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711" y="1989683"/>
            <a:ext cx="6096000" cy="347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37" descr="Зображення, що містить текст, знімок екрана, Шрифт, документ&#10;&#10;Автоматично згенерований опис">
            <a:extLst>
              <a:ext uri="{FF2B5EF4-FFF2-40B4-BE49-F238E27FC236}">
                <a16:creationId xmlns:a16="http://schemas.microsoft.com/office/drawing/2014/main" id="{29053CED-3FB4-F309-0B00-6F4B8696CA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85" y="272179"/>
            <a:ext cx="3045941" cy="6585821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Монетизація і публікація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sX0" fmla="*/ 0 w 5029200"/>
              <a:gd name="csY0" fmla="*/ 0 h 18288"/>
              <a:gd name="csX1" fmla="*/ 528066 w 5029200"/>
              <a:gd name="csY1" fmla="*/ 0 h 18288"/>
              <a:gd name="csX2" fmla="*/ 1207008 w 5029200"/>
              <a:gd name="csY2" fmla="*/ 0 h 18288"/>
              <a:gd name="csX3" fmla="*/ 1785366 w 5029200"/>
              <a:gd name="csY3" fmla="*/ 0 h 18288"/>
              <a:gd name="csX4" fmla="*/ 2313432 w 5029200"/>
              <a:gd name="csY4" fmla="*/ 0 h 18288"/>
              <a:gd name="csX5" fmla="*/ 2992374 w 5029200"/>
              <a:gd name="csY5" fmla="*/ 0 h 18288"/>
              <a:gd name="csX6" fmla="*/ 3621024 w 5029200"/>
              <a:gd name="csY6" fmla="*/ 0 h 18288"/>
              <a:gd name="csX7" fmla="*/ 4249674 w 5029200"/>
              <a:gd name="csY7" fmla="*/ 0 h 18288"/>
              <a:gd name="csX8" fmla="*/ 5029200 w 5029200"/>
              <a:gd name="csY8" fmla="*/ 0 h 18288"/>
              <a:gd name="csX9" fmla="*/ 5029200 w 5029200"/>
              <a:gd name="csY9" fmla="*/ 18288 h 18288"/>
              <a:gd name="csX10" fmla="*/ 4501134 w 5029200"/>
              <a:gd name="csY10" fmla="*/ 18288 h 18288"/>
              <a:gd name="csX11" fmla="*/ 4023360 w 5029200"/>
              <a:gd name="csY11" fmla="*/ 18288 h 18288"/>
              <a:gd name="csX12" fmla="*/ 3344418 w 5029200"/>
              <a:gd name="csY12" fmla="*/ 18288 h 18288"/>
              <a:gd name="csX13" fmla="*/ 2816352 w 5029200"/>
              <a:gd name="csY13" fmla="*/ 18288 h 18288"/>
              <a:gd name="csX14" fmla="*/ 2137410 w 5029200"/>
              <a:gd name="csY14" fmla="*/ 18288 h 18288"/>
              <a:gd name="csX15" fmla="*/ 1408176 w 5029200"/>
              <a:gd name="csY15" fmla="*/ 18288 h 18288"/>
              <a:gd name="csX16" fmla="*/ 829818 w 5029200"/>
              <a:gd name="csY16" fmla="*/ 18288 h 18288"/>
              <a:gd name="csX17" fmla="*/ 0 w 5029200"/>
              <a:gd name="csY17" fmla="*/ 18288 h 18288"/>
              <a:gd name="csX18" fmla="*/ 0 w 5029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DF46E-E7BF-4B93-56F7-85BBBCAE11C8}"/>
              </a:ext>
            </a:extLst>
          </p:cNvPr>
          <p:cNvSpPr txBox="1"/>
          <p:nvPr/>
        </p:nvSpPr>
        <p:spPr>
          <a:xfrm>
            <a:off x="5759354" y="2798064"/>
            <a:ext cx="5461095" cy="34176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solidFill>
                  <a:srgbClr val="FFFFFF"/>
                </a:solidFill>
                <a:effectLst/>
              </a:rPr>
              <a:t>Преміум-підписка реалізована через react-native-iap для iOS та Android. Клієнт підтримує щомісячну і річну моделі доступу, а також відновлення покупки на іншому пристрої.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Для релізів і оновлень використано Expo, EAS та OTA-механізм expo-updates.</a:t>
            </a:r>
            <a:r>
              <a:rPr lang="en-US" sz="2200" b="0" i="0">
                <a:solidFill>
                  <a:srgbClr val="FFFFFF"/>
                </a:solidFill>
                <a:effectLst/>
              </a:rPr>
              <a:t> </a:t>
            </a:r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9BC01-086F-7A56-1FD6-72B3E14C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 результати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A5388F-E91D-C24B-F31D-574360CC8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268" y="1396686"/>
            <a:ext cx="5536397" cy="1800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</a:t>
            </a:r>
            <a:r>
              <a:rPr lang="uk-UA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бакалавоської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роботи було розроблено та впроваджено клієнтську частину мобільного додатку «BAZHAY!», який реалізує повноцінний функціонал для створення, перегляду, резервування та дарування бажань. </a:t>
            </a:r>
            <a:endParaRPr lang="uk-UA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57C7A-8BD1-F51F-3A9E-E8DD9F1C441D}"/>
              </a:ext>
            </a:extLst>
          </p:cNvPr>
          <p:cNvSpPr txBox="1"/>
          <p:nvPr/>
        </p:nvSpPr>
        <p:spPr>
          <a:xfrm>
            <a:off x="5370153" y="5738969"/>
            <a:ext cx="252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App Store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E3AC3-AC93-8C35-5FBE-64044C97D733}"/>
              </a:ext>
            </a:extLst>
          </p:cNvPr>
          <p:cNvSpPr txBox="1"/>
          <p:nvPr/>
        </p:nvSpPr>
        <p:spPr>
          <a:xfrm>
            <a:off x="8664158" y="5738969"/>
            <a:ext cx="274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Play Market</a:t>
            </a:r>
            <a:endParaRPr lang="uk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BEDC4A-52C7-CDBA-8785-16B4D405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153" y="3233894"/>
            <a:ext cx="2390775" cy="25050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3177BC-B9F3-F0F5-9119-317C2D595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21" y="3210081"/>
            <a:ext cx="24765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85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джерела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EA711E-8592-EC24-90BD-38E7E1A51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19088"/>
            <a:ext cx="7186527" cy="6052529"/>
          </a:xfrm>
        </p:spPr>
        <p:txBody>
          <a:bodyPr anchor="ctr">
            <a:normAutofit lnSpcReduction="10000"/>
          </a:bodyPr>
          <a:lstStyle/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https://reactnative.dev/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офіційна документація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https://expo.dev/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середовища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Expo.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https://firebase.google.com/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Firebase.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https://www.django-rest-framework.org/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Django REST.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https://www.postgresql.org/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PostgreSQL.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https://redis.io/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Redis.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https://www.apple.com/app-store/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https://play.google.com/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https://firebase.google.com/docs/analytics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Firebase Analytics.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https://reactnavigation.org/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Navigation.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https://docs.expo.dev/versions/latest/sdk/async-storage/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AsyncStorage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3"/>
              </a:rPr>
              <a:t>http://formik.org/docs/guides/react-native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Formik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в поєднанні з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4"/>
              </a:rPr>
              <a:t>https://www.npmjs.com/package/yup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бібліотека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Yup.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5"/>
              </a:rPr>
              <a:t>https://github.com/DylanVann/react-native-fast-image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репозиторій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Fast Image.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6"/>
              </a:rPr>
              <a:t>https://docs.swmansion.com/react-native-reanimated/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Reanimated.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7"/>
              </a:rPr>
              <a:t>https://react.dev/reference/react/useContext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по хуку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useContext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8"/>
              </a:rPr>
              <a:t>https://developer.mozilla.org/en-US/docs/Web/API/XMLHttpRequest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документація по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XMLHttpRequest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9"/>
              </a:rPr>
              <a:t>https://play.google.com/store/apps/details?id=com.ivanfranco.BAZHAYRN&amp;hl=uk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0"/>
              </a:rPr>
              <a:t>https://apps.apple.com/ua/app/bazhay/id6737126307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C11D2-B80F-33FB-CD91-3EB65CE7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Дякую за увагу! Готовий відповісти на Ваші питання.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259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</TotalTime>
  <Words>940</Words>
  <Application>Microsoft Macintosh PowerPoint</Application>
  <PresentationFormat>Widescreen</PresentationFormat>
  <Paragraphs>166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Тема Office</vt:lpstr>
      <vt:lpstr>РОЗРОБКА КЛІЄНТСЬКОЇ ЧАСТИНИ МОБІЛЬНОГО ЗАСТОСУНКУ ДЛЯ ОБМІНУ ПОДАРУНКАМИ «BAZHAY!»</vt:lpstr>
      <vt:lpstr>Вступ</vt:lpstr>
      <vt:lpstr>Постановка задачі</vt:lpstr>
      <vt:lpstr>Модель даних</vt:lpstr>
      <vt:lpstr>1. User</vt:lpstr>
      <vt:lpstr>2. Wish</vt:lpstr>
      <vt:lpstr>3. Reservation</vt:lpstr>
      <vt:lpstr>4. Brand</vt:lpstr>
      <vt:lpstr>5. Article</vt:lpstr>
      <vt:lpstr>6. Subscription</vt:lpstr>
      <vt:lpstr>Використаний набір технологій</vt:lpstr>
      <vt:lpstr>Додаткові бібліотеки</vt:lpstr>
      <vt:lpstr>Серверні взаємодії</vt:lpstr>
      <vt:lpstr>Архітектура застосунку</vt:lpstr>
      <vt:lpstr>Аутентифікація та навігація</vt:lpstr>
      <vt:lpstr>Інтерфейс користувача Вітальні екрани</vt:lpstr>
      <vt:lpstr>PowerPoint Presentation</vt:lpstr>
      <vt:lpstr>PowerPoint Presentation</vt:lpstr>
      <vt:lpstr>PowerPoint Presentation</vt:lpstr>
      <vt:lpstr>Сторінки брендів, новин та бажань</vt:lpstr>
      <vt:lpstr>Сторінка пошуку</vt:lpstr>
      <vt:lpstr>Сторінка “Ком’юніті”</vt:lpstr>
      <vt:lpstr>Створення бажання</vt:lpstr>
      <vt:lpstr>PowerPoint Presentation</vt:lpstr>
      <vt:lpstr>PowerPoint Presentation</vt:lpstr>
      <vt:lpstr>Профіль користувача</vt:lpstr>
      <vt:lpstr>Сторінка налаштувань</vt:lpstr>
      <vt:lpstr>Сторінка редагування профілю</vt:lpstr>
      <vt:lpstr>Сторінки технічної підтримки</vt:lpstr>
      <vt:lpstr>Анімація логотипу</vt:lpstr>
      <vt:lpstr>Push-сповіщення і кешування</vt:lpstr>
      <vt:lpstr>Аналітика та підтримка</vt:lpstr>
      <vt:lpstr>Монетизація і публікація</vt:lpstr>
      <vt:lpstr>Отримані результати</vt:lpstr>
      <vt:lpstr>Використані джерела</vt:lpstr>
      <vt:lpstr>Дякую за увагу! Готовий відповісти на Ваші питання.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КЛІЄНТСЬКОЇ ЧАСТИНИ МОБІЛЬНОГО ЗАСТОСУНКУ «BAZHAY!»</dc:title>
  <dc:creator>Стегней Віктор</dc:creator>
  <cp:lastModifiedBy>Стегней Віктор</cp:lastModifiedBy>
  <cp:revision>175</cp:revision>
  <dcterms:created xsi:type="dcterms:W3CDTF">2025-05-26T07:21:43Z</dcterms:created>
  <dcterms:modified xsi:type="dcterms:W3CDTF">2026-05-26T10:21:15Z</dcterms:modified>
</cp:coreProperties>
</file>